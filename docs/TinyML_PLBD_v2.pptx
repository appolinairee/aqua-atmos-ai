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082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09728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PROTOTYPE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démarche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7280" y="4251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support n'est pas une série de réponses. C'est une série de questions que vous devez vous poser avant de toucher à un microcontrôleur.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5212080"/>
            <a:ext cx="10972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5349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PLBD30 — Smart Trafik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PLBD35 — AQUA-ATMOS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Centrale Casablanca  •  Encadrement : K. Zerhouni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#1  •  À REMPLIR AVANT TOUTE CHOSE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Formuler le problème, avant de choisir l'outil.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PLBD qui échoue, échoue presque toujours ici. Pas dans le code.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GABARIT  —  VOTRE GROUPE, SÉANCE PROCHAINE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 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679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Nature, unités, fréquence d'échantillonnage, bruit attendu.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11880" y="2468880"/>
            <a:ext cx="8092440" cy="45720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749040" y="2468880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=  ___________________________________________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900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 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(classe, scalaire, décision), dimension, plage.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3035808"/>
            <a:ext cx="8092440" cy="45720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749040" y="3035808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=  ___________________________________________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570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cible  f : X → 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8130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voulez-vous qu'elle fasse, précisément 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11880" y="3602736"/>
            <a:ext cx="8092440" cy="45720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749040" y="3602736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:  ________________________________________________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239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ML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3799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l'apprentissage, plutôt qu'une règle ou un modèle physique 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11880" y="4169664"/>
            <a:ext cx="8092440" cy="45720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749040" y="4169664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Parce que _______________________________________________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908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9469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la plus simple qui marche. Vous DEVEZ la battre.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11880" y="4736592"/>
            <a:ext cx="8092440" cy="45720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749040" y="4736592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 =  ______________________________________________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52578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55138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scalaire qui mesure le succès.  Aligné sur l'objectif réel 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11880" y="5303520"/>
            <a:ext cx="8092440" cy="45720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749040" y="5303520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 =  ___________________________________________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58247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080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RAM, énergie, latence, budget, temps de collecte.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11880" y="5870448"/>
            <a:ext cx="8092440" cy="45720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749040" y="5870448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________  ,  ≤ ________  ,  ≤ ________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si vous ne pouvez pas remplir ce gabarit en une phrase par ligne, vous n'êtes pas prêts à coder.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TOUT  •  LE BON RÉFLEXE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cherchez pas l'IA. Cherchez la plus petite solution qui marche.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prototype d'ingénieur est jugé sur ce qu'il résout, pas sur le nombre de buzzwords.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657600" cy="502920"/>
          </a:xfrm>
          <a:prstGeom prst="rect">
            <a:avLst/>
          </a:prstGeom>
          <a:solidFill>
            <a:srgbClr val="6B6B6B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Règle simple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problème s'écrit avec  &lt; 10 conditions stables, commencez par là.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T &lt; seuil ET RH &gt; 60 %, activer TEC. »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densité &lt; 20 véh/km, cycle par défaut. 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440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CELA APPORTE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5669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Déterministe, vérifiable, débugable. Zéro données d'entraînement.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331720"/>
            <a:ext cx="36576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29768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 classique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2971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32004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optimisez un objectif sous contraintes, sans incertitude majeure.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9768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0" y="42976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linéaire, contrôle PID, planification.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Surtrac repose principalement sur du schedule-driven optimization.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5440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CELA APPORTE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5669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Outillé, interprétable, adapté au temps réel embarqué.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2331720"/>
            <a:ext cx="365760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13816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38160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Apprentissage automatique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38160" y="2971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0" y="32004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règle est implicite dans les données et impossible à écrire.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13816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38160" y="42976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un véhicule sur une image.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la production d'eau à 3 h selon le contexte.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38160" y="5440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CELA APPORTE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38160" y="5669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Puissant, mais exige des données, un pipeline, et une validation.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STRUCTURANTE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vos protos, le cloud n'est pas une option.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raisons qui rendent l'inférence embarquée obligatoire — pas optionnelle.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feu tricolore qui attend la réponse du serveur a déjà changé les règles du jeu. Décision locale = réponse en 10–50 ms.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13232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27432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AQUA-ATMOS cible explicitement des territoires isolés. Pas de 4G = pas de cloud. Un carrefour marocain n'est pas fiable 100 % du temps non plus.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6634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des données par radio coûte plus cher que les traiter localement. Un panneau solaire n'a pas le budget.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206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13232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&amp; souveraineté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0" y="46634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facture cloud mensuelle, pas de données qui partent chez un tiers. Essentiel pour un proto académique puis un déploiement africain.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vous construisez un système edge. La question n'est pas « cloud ou edge », c'est « quel edge ».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 •  CE QU'UN MCU PEUT VRAIMENT FAIRE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TinyML, précisément.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un modèle — entraîné au préalable — directement sur un microcontrôleur à quelques dollars, consommant sous le milliwatt.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CONTRAINTES RÉELLES D'UN MCU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01168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834640"/>
            <a:ext cx="292608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56032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GPU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834640"/>
            <a:ext cx="292608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0" y="2834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2834640"/>
            <a:ext cx="310896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412480" y="2834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(TinyML)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2011680" cy="384048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468880" y="3246120"/>
            <a:ext cx="2926080" cy="384048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560320" y="3246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à 80 Go VRAM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394960" y="3246120"/>
            <a:ext cx="2926080" cy="384048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0" y="3246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à 12 Go RAM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21040" y="3246120"/>
            <a:ext cx="3108960" cy="384048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412480" y="3246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Ko SRAM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63016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8640" y="36301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468880" y="3630168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560320" y="36301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téraoctets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94960" y="3630168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486400" y="36301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~128 Go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3630168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412480" y="36301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à 8 Mo Flash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4014216"/>
            <a:ext cx="2011680" cy="384048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48640" y="40142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468880" y="4014216"/>
            <a:ext cx="2926080" cy="384048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560320" y="401421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W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394960" y="4014216"/>
            <a:ext cx="2926080" cy="384048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486400" y="401421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W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321040" y="4014216"/>
            <a:ext cx="3108960" cy="384048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8412480" y="40142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~0,3 W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439826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48640" y="43982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modèle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468880" y="4398264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560320" y="43982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≈ 1 000 Go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394960" y="4398264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5486400" y="43982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Mo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321040" y="4398264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8412480" y="439826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 Ko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57200" y="4782312"/>
            <a:ext cx="2011680" cy="384048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48640" y="4782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468880" y="4782312"/>
            <a:ext cx="2926080" cy="384048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560320" y="47823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10 000 $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394960" y="4782312"/>
            <a:ext cx="2926080" cy="384048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5486400" y="47823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~500 $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321040" y="4782312"/>
            <a:ext cx="3108960" cy="384048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8412480" y="478231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10 $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facteur 10⁶ en mémoire. Les tâches réalistes sont bornées : classification de quelques classes, détection de motifs simples, régression sur quelques variables.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 •  DE BOUT EN BOUT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chaîne TinyML, en cinq étapes.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n'est optionnelle. Si vous en sautez une, vous le payez à la fin.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94664" y="219456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194664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4564" y="2926080"/>
            <a:ext cx="2148840" cy="2560320"/>
          </a:xfrm>
          <a:prstGeom prst="rect">
            <a:avLst/>
          </a:prstGeom>
          <a:solidFill>
            <a:srgbClr val="F4F4F2"/>
          </a:solidFill>
          <a:ln w="9525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94564" y="3017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94664" y="3429000"/>
            <a:ext cx="54864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31724" y="356616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→ échantillons étiquetés.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viable : 50–200 / classe.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4564" y="49377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6004" y="5166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+ code minimal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52548" y="3886200"/>
            <a:ext cx="146304" cy="219456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508096" y="219456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508096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707996" y="2926080"/>
            <a:ext cx="2148840" cy="2560320"/>
          </a:xfrm>
          <a:prstGeom prst="rect">
            <a:avLst/>
          </a:prstGeom>
          <a:solidFill>
            <a:srgbClr val="F4F4F2"/>
          </a:solidFill>
          <a:ln w="9525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07996" y="3017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Entraînement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08096" y="3429000"/>
            <a:ext cx="54864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845156" y="356616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PC ou cloud (gratuit).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/ TensorFlow, ou no-code.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07996" y="49377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99436" y="5166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Impulse, Colab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65980" y="3886200"/>
            <a:ext cx="146304" cy="219456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821528" y="219456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821528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021428" y="2926080"/>
            <a:ext cx="2148840" cy="2560320"/>
          </a:xfrm>
          <a:prstGeom prst="rect">
            <a:avLst/>
          </a:prstGeom>
          <a:solidFill>
            <a:srgbClr val="F4F4F2"/>
          </a:solidFill>
          <a:ln w="9525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021428" y="3017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821528" y="3429000"/>
            <a:ext cx="54864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158588" y="356616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→ int8 (quantization).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÷ ~4, latence ÷ ~3.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1428" y="49377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12868" y="5166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9412" y="3886200"/>
            <a:ext cx="146304" cy="219456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8134960" y="219456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81349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334860" y="2926080"/>
            <a:ext cx="2148840" cy="2560320"/>
          </a:xfrm>
          <a:prstGeom prst="rect">
            <a:avLst/>
          </a:prstGeom>
          <a:solidFill>
            <a:srgbClr val="F4F4F2"/>
          </a:solidFill>
          <a:ln w="9525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334860" y="3017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134960" y="3429000"/>
            <a:ext cx="54864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472020" y="356616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converti en tableau C/C++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 au firmware.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334860" y="49377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26300" y="5166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Micro, PlatformIO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92844" y="3886200"/>
            <a:ext cx="146304" cy="219456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10448392" y="219456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10448392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9648292" y="2926080"/>
            <a:ext cx="2148840" cy="2560320"/>
          </a:xfrm>
          <a:prstGeom prst="rect">
            <a:avLst/>
          </a:prstGeom>
          <a:solidFill>
            <a:srgbClr val="F4F4F2"/>
          </a:solidFill>
          <a:ln w="9525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9648292" y="3017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Inférence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0448392" y="3429000"/>
            <a:ext cx="54864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9785452" y="356616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MCU lit ses capteurs,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exécute, décide — en boucle.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648292" y="493776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739732" y="5166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IDE, ESP-IDF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est le raccourci standard : data → modèle → firmware en quelques heures, sans écrire de ML.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 •  CHOISIR SA CARTE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cartes, trois usages.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en fonction du capteur dominant, pas du nom de la carte.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77724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ESP32-S3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7249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Polyvalent. Wi-Fi + BLE + 512 Ko de RAM.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numériques (T, RH, lumière), audio, logique.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entre nœuds.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5577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5806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 raisonnable pour AQUA-ATMOS.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2286000"/>
            <a:ext cx="3657600" cy="7772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43484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ESP32-CAM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34840" y="27249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~15–25 €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3200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3429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caméra OV2640, optimisé pour la vision.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0" y="42976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Détection, comptage, classification d'image.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limitée (~2 Mpx, faible luminosité délicate).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0" y="5577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VOUS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5806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 raisonnable pour Smart Trafik.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2286000"/>
            <a:ext cx="3657600" cy="77724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27532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 33 BLE Sense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75320" y="27249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3200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0" y="3429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avec capteurs intégrés (IMU, micro, T, RH, lumière).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3816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38160" y="42976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Prototypage rapide sans câblage.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 pour apprendre la chaîne TinyML.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138160" y="5577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VOUS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38160" y="5806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pour les premières itérations de test.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7D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29260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Trafik —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gérer le trafic à une intersection.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097280" y="5029200"/>
            <a:ext cx="1371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Décomposer avant de coder.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TRAFIK  •  DÉCOMPOSITION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sous-problèmes. Trois natures différentes.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Confondre ces trois niveaux est l'erreur la plus fréquente. Chacun appelle une technique différente.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468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Combien de véhicules, où, dans quelle file 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219456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(CNN quantifié sur ESP32-CAM),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capteurs ultrasons / magnétiques — plus simples, moins riches.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784080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quantifié  •  TinyML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1124712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566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Quelle phase activer, pendant combien de temps 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356616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forcément du ML. Un algorithme d'optimisation de planning (schedule-driven) suffit souvent.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Surtrac lui-même repose sur une optimisation combinatoire alimentée par la perception.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784080" y="3931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 •  Heuristiques  •  Parfois RL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4937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5212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les intersections se parlent-elles 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493776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multi-agents. Propagation de l'état local aux voisins via ESP-NOW ou MQTT.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L'onde verte émerge de règles locales + communication.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784080" y="5303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de messages  •  Éventuellement MARL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TRAFIK  •  LES DÉCISIONS QUI VOUS REVIENNENT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votre table, les choix à justifier.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demandez pas « quelle est la bonne réponse ». Demandez « laquelle choisissons-nous, et pourquoi ».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37160" cy="187452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Capteur dominant 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Caméra (riche, coûteuse en calcul)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Capteur magnétique / IR (simple, limité)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Mixte (fusion — plus complexe)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: richesse d'information  vs  difficulté du modèle.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137160" cy="187452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537960" y="2194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Tâche de perception 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Classification d'état de voie  (vide / fluide / saturé)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880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Détection et comptage  (bounding boxes)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154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Régression directe  (densité estimée)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5204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: dataset réaliste en 2 semaines ? annotation manuelle 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137160" cy="187452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77240" y="4297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Boucle de décision 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Cycle fixe  (baseline)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983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Règle adaptative alimentée par la perception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257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Optimisation combinatoire  (style Surtrac)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6235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Commencer par baseline fixe, toujours. C'est la référence à battre.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297680"/>
            <a:ext cx="137160" cy="187452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537960" y="4297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Métrique principale 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4709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Temps d'attente moyen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4983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Débit (véhicules / min)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5257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Pire cas : temps max subi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56235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métrique principale. Les autres sont secondaires.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2362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votre cahier : entourez votre choix. Écrivez la raison en une phrase. Pas plus.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4D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29260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AQUA-ATMOS —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extraire l'eau de l'air, intelligemment.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7280" y="5120640"/>
            <a:ext cx="1371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Où mettre l'IA, et où ne pas en mettre.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AQUA-ATMOS  •  DÉCOMPOSITION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leviers. L'IA n'est pertinente que sur certains.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utiliser l'IA là où une règle statique échoue parce que les conditions varient dans le temps.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640080" cy="64008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468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 allumé / éteint. Régénération CaCl₂ oui / non.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219456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Commencer par une machine d'états déclenchée par des seuils psychrométriques (T, RH, point de rosée).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marche à 80 %. N'utilisez pas d'IA ici.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78408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 •  PID  •  Automate à états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784080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124712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3566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Dans 2 h, vaut-il mieux produire ou attendre 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356616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sur historique (T, RH, heure, ensoleillement) → rendement prédit.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d'anticiper et de répartir l'énergie dans la journée.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84080" y="3749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 •  MLP léger  •  TinyML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784080" y="4434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PERTINENT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640080" cy="640080"/>
          </a:xfrm>
          <a:prstGeom prst="ellipse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4937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5212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système fonctionne-t-il comme prévu 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97680" y="493776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d'écart entre production observée et attendue → alerte maintenance.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pour un déploiement isolé sans opérateur sur place.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784080" y="51206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  •  Autoencoder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84080" y="5806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PERTINENT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AQUA-ATMOS  •  FORMULER AVANT DE MODÉLISER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L'équation que vous devez écrire en premier.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parler de modèle : quel phénomène physique votre IA apprend-elle 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1247120" cy="146304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 THERMODYNAMIQUE  (psychrométrie)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m_eau_max  =  ρ_air · V̇ · [ W(T, RH)  −  W(T_cond) ]     [kg/s]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W(T, RH) = humidité spécifique de l'air ambiant.  W(T_cond) = humidité spécifique à la température de condensation atteinte par le TEC.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124712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VOTRE MODÈLE APPREND VRAIMENT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 =  f_θ ( T, RH, P_solaire, heure, mois )      ≈      m_eau_reel ( conditions, état système 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corrige la borne thermodynamique par tout ce qu'elle ignore 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rendement réel du TEC (non idéal, dégradé dans le temps)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pertes thermiques du système (isolation, ventilation)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régime du sorbant CaCl₂ (saturé, en régénération)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état de charge batterie  →  puissance disponible pour refroidir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cette formulation, votre modèle est une boîte noire qui devine. Avec elle, c'est une correction physique apprise — beaucoup plus défendable.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AQUA-ATMOS  •  STRATÉGIE DATASET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 données, pas d'IA. Organisez la collecte.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n'avez pas de prototype. Vous devez quand même avancer. Trois sources, dans cet ordre.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1E4D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physique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514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psychrométriques + courbes TEC constructeur → jeu de données synthétique. Valide le pipeline AVANT d'avoir le proto.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3920" y="2148840"/>
            <a:ext cx="320040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59536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0" y="2148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3 jours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03920" y="2651760"/>
            <a:ext cx="320040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595360" y="2651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mais utile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1E4D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280160" y="3429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météo publiques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8404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Casablanca ou site cible (Open-Meteo, ONM) → distributions réalistes de (T, RH, irradiance). Vos mesures indoor calibrent le capteur.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3920" y="3474720"/>
            <a:ext cx="320040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595360" y="34747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 semaine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03920" y="3977640"/>
            <a:ext cx="320040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595360" y="3977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0" y="3977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1E4D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1280160" y="4754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réelles en phase proto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51663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à 2 semaines de journalisation continue sur le prototype → fine-tuning du modèle. Workflow standard en TinyML embarqué.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800600"/>
            <a:ext cx="320040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8595360" y="4800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0" y="4800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 semaines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5303520"/>
            <a:ext cx="320040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595360" y="5303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5303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monte avec le temps — donc commencez la collecte MAINTENANT, même imparfaite.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AQUA-ATMOS  •  DE LA PRÉDICTION À LA DÉCISION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modèle n'est pas une politique.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 le squelette. Les  [à décider]  sont vos choix — justifiés à votre soutenance.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1247120" cy="3429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107899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boucle principale, cadence  = [ à décider ]  (proposition : 10 min)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lire_capteurs(T, RH, irradiance, niveau_batterie)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 =  modele.predire( [T, RH, irradiance, heure, mois] 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 niveau_batterie &gt; [ seuil_batterie ]  ET  y_pred &gt; [ seuil_rentabilite ] 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activer_TEC()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SINON_SI  RH &gt; [ seuil_RH ]  ET  TEC_inactif_depuis &gt; [ durée ] 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activer_cycle_adsorption()      // CaCl₂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SINON 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veille()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journaliser(T, RH, y_pred, action, production_reelle)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DÉCISIONS QUI VOUS APPARTIENNENT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Cadence  →  énergie consommée par lecture vs réactivité.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Seuils  →  justifiés par vos données, pas par l'intuition.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Ordre des conditions  →  priorité énergétique ou priorité production 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 •  ERREURS CLASSIQUES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Huit pièges que vous allez rencontrer.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les mêmes erreurs, année après année. Les connaître n'est pas suffisant. Les anticiper, si.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148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du ML quand une règle suffit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249631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 : « on voulait juste tester l'IA ». Fix : slide 3 — règle → optimisation → ML.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0" y="2148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12280" y="2148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trop petit ou trop homogène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12280" y="249631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photos prises au même endroit, à la même heure. Le modèle apprend votre mur, pas votre tâche.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 de données  (train  /  test)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354787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images adjacentes dans la même séquence dans les deux splits → accuracy irréaliste. Split par jour, par lieu.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3200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1228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non alignée sur l'objectif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12280" y="354787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95 % sur un dataset à 95 % de classe majoritaire = modèle trivial. Regardez F1, rappel par classe.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4251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trop lourd pour la cible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51560" y="459943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Entraîné sur PC, il tient. Converti pour ESP32, il crash : SRAM insuffisante. Testez la taille tôt.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4251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4251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baseline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12280" y="459943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Notre modèle fait 82 % » — 82 % vs quoi ? Sans cycle fixe ou règle à seuil, vous ne savez rien.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5303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5303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sur des données vues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51560" y="565099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des hyperparamètres sur le jeu de test → optimisme chronique. Réservez un jeu final jamais touché.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5303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12280" y="5303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oubliée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12280" y="565099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prototype tourne, mais rien n'est loggé. Résultat : aucun dataset pour la v2. Premier code = logs.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 •  PROTOCOLE EXPÉRIMENTAL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Comparer proprement. Sans quoi, rien n'est prouvé.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protocole que dans un papier scientifique — en plus court, pas en moins rigoureux.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37160" cy="1234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Découper vos données :  60 % train  /  20 % val  /  20 % test.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Figer le jeu test dès le début.  Personne ne le regarde avant la fin.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Fixer une graine aléatoire.  Loguer la version du modèle.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137160" cy="1234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3520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Baseline  :  méthode la plus bête qui marche  (cycle fixe, seuil statique).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3886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Votre modèle principal  sur le même jeu test.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Variantes  :  une par hypothèse que vous voulez tester.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137160" cy="1234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4937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Métrique principale, intervalle de confiance  (±).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5303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Cas d'échec concrets  :  où votre modèle se trompe, pourquoi.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5669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Coût  :  taille du modèle, latence, énergie estimée.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minimum vital :  UNE figure qui montre  baseline  vs  votre modèle  sur le même jeu test. Si cette figure n'existe pas, votre rapport n'existe pas.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BARÈME  •  CE QUI DISTINGUE UN RENDU MOYEN D'UN RENDU EXCELLENT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niveaux. Choisissez où vous voulez arriver.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un classement secret. C'est le barème explicite sur lequel vous serez lus.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57600" cy="457200"/>
          </a:xfrm>
          <a:prstGeom prst="rect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 qui marche, sans justification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6118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Un capteur, un modèle, une sortie.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41148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Pas de baseline.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46177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Pas de discussion des limites.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5120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Accuracy donnée sans jeu test séparé.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2194560"/>
            <a:ext cx="36576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976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2788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+ modèle + comparaison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34840" y="36118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Formulation claire (slide 2).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34840" y="41148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Baseline explicite, battue proprement.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4840" y="46177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Métrique unique, mesurée sur un jeu test.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34840" y="5120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Code propre, reproductible.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2194560"/>
            <a:ext cx="36576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138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2788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de recherche, à l'échelle PLBD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75320" y="36118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Dataset structuré, documenté, versionné.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75320" y="41148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Étude d'ablation :  quelle entrée contribue à quoi 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75320" y="46177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Discussion des échecs  +  limites matérielles.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75320" y="5120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Protocole qu'un autre groupe peut reproduire.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« correct » suffit à avoir une bonne note. Le niveau « excellent » distingue les groupes qui feront de la recherche un jour.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GROUPES  •  GRILLE DE REVUE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groupe évalue un autre. Selon cette grille.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« c'est cool ». Pas « c'est bien ». Cinq critères, un score, trois commentaires obligatoires.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47472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2103120"/>
            <a:ext cx="594360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069080" y="21031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cherche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875520" y="2103120"/>
            <a:ext cx="182880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012680" y="2103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47472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Clarté du problème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2514600"/>
            <a:ext cx="594360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069080" y="25146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gabarit de la slide 2 est rempli, en une phrase par ligne.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75520" y="2514600"/>
            <a:ext cx="182880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0012680" y="2514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94360" y="2926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Justification du choix 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2926080"/>
            <a:ext cx="5943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069080" y="29260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ML plutôt qu'une règle ?  L'argument tient-il 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75520" y="29260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0012680" y="2926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347472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94360" y="3337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Qualité des données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0" y="3337560"/>
            <a:ext cx="594360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069080" y="33375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Taille, diversité, split propre, absence de fuite.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875520" y="3337560"/>
            <a:ext cx="182880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0012680" y="3337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94360" y="3749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Cohérence métrique ↔ objectif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31920" y="3749040"/>
            <a:ext cx="5943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069080" y="3749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métrique mesure-t-elle vraiment ce qui compte pour le projet 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75520" y="37490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0012680" y="3749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160520"/>
            <a:ext cx="347472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9436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Faisabilité embarquée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931920" y="4160520"/>
            <a:ext cx="594360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069080" y="41605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tient-il sur la cible ?  Latence, mémoire, énergie.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875520" y="4160520"/>
            <a:ext cx="1828800" cy="411480"/>
          </a:xfrm>
          <a:prstGeom prst="rect">
            <a:avLst/>
          </a:prstGeom>
          <a:solidFill>
            <a:srgbClr val="F4F4F2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10012680" y="4160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617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COMMENTAIRES OBLIGATOIRES  —  une ou deux phrases chacun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937760"/>
            <a:ext cx="137160" cy="118872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731520" y="4937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fort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1520" y="5257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voudriez reproduire dans votre propre projet.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97680" y="4937760"/>
            <a:ext cx="137160" cy="1188720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572000" y="4937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faiblesse critique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0" y="5257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fail qui, non corrigé, invalide le reste. Soyez précis.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138160" y="4937760"/>
            <a:ext cx="137160" cy="118872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8412480" y="4937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amélioration concrète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0" y="5257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Actionnable en une semaine, pas en six mois.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revue utile se relit sans le projet sous les yeux. Si votre commentaire ne tient pas sans contexte, il est trop vague.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 •  MATRICE DE DÉCISION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bon outil pour chaque sous-problème.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question pour chaque brique : est-ce que la règle explicite suffit 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84048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Sous-problème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45720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434840" y="21945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recommandée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869680" y="2194560"/>
            <a:ext cx="329184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006840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11247120" cy="3657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" y="2606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TRAFIK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Compter / caractériser le trafic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97180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434840" y="2971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 classification 3 classes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297180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9006840" y="2971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+ Edge Impulse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4360" y="3383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 la phase à activer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38328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434840" y="3383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(pas de ML)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69680" y="338328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00684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de planification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94360" y="3794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Coordonner les intersections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79476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434840" y="3794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entre nœuds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69680" y="379476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9006840" y="3794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ou MQTT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9436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AQUA-ATMOS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94360" y="4572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TEC / CaCl₂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97680" y="457200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434840" y="4572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psychrométriques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869680" y="457200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9006840" y="4572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à états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98348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94360" y="4983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le rendement à 1 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97680" y="498348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434840" y="49834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(MLP ou Random Forest)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869680" y="498348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9006840" y="4983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+ TFLite Micro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539496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94360" y="5394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pannes silencieuses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97680" y="5394960"/>
            <a:ext cx="4572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434840" y="53949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prédit  vs  mesuré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69680" y="539496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9006840" y="5394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Seuillage sur résidu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PROCHAINE  •  CE QUE VOUS LIVREZ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521440" y="365760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livrables avant la prochaine séance.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six. Pas trois. Cinq. Mêmes pour les deux groupes — seul le contenu change.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 de la slide 2, rempli.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lignes. Une phrase par ligne. Tape-le, imprime-le.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926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décidée, justifiée.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phrase qui décrit la méthode la plus simple contre laquelle vous allez vous comparer.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3749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décidée, mesurable.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allez-vous la mesurer, avec quel outil, sur quel ensemble.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collecte de données, démarrée.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la source n°1 (simulation ou données publiques) en train d'être téléchargée / écrite.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5394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 commande matériel, prêt.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choisie, capteurs listés, budget chiffré. Pas commandé — prêt à être validé.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pour votre proto  •  École Centrale Casablanca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097280" y="10058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principes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emporter.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outil, pas le plus sophistiqué.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34564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&gt; optimisation &gt; ML. Passez au niveau supérieur seulement quand le précédent échoue.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858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38587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Formuler avant de modéliser.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4206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ne pouvez pas écrire  X, Y, f, baseline, métrique  — vous n'êtes pas prêts.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6085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460857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contre un baseline.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4956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IA doit battre la méthode bête. Sinon, elle ne sert à rien. Une figure, deux courbes.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535838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53583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Loguer tout, dès le premier jour.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570585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que vous ne collectez pas aujourd'hui sont perdues pour toujours. Premier code = logs.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doutes, choix techniques  —  envoyez-moi votre problème, pas votre solution.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3543</Words>
  <Application>Microsoft Office PowerPoint</Application>
  <PresentationFormat>Grand écran</PresentationFormat>
  <Paragraphs>519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kawtar ZERHOUNI</cp:lastModifiedBy>
  <cp:revision>2</cp:revision>
  <dcterms:created xsi:type="dcterms:W3CDTF">2026-04-23T12:01:07Z</dcterms:created>
  <dcterms:modified xsi:type="dcterms:W3CDTF">2026-04-25T12:31:09Z</dcterms:modified>
</cp:coreProperties>
</file>