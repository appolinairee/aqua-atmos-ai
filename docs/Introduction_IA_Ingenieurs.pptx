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246888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Comprendre la machine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 apprend.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Algorithmes, données, puissance de calcul — et ce qu'ils changent.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5349240"/>
            <a:ext cx="10972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486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d'introduction • Élèves ingénieurs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5806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Centrale Casablanca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CONTEXTE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l'IA, pourquoi maintenant 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It happened gradually, then suddenly. 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 de Dartmouth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4864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Naissance du terme "Artificial Intelligence". Promesse d'une machine qui pense, sans les moyens pour la tenir.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1997 → 2016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9768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démonstrations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3200400"/>
            <a:ext cx="54864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33832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bat Kasparov. Watson gagne à Jeopardy. AlphaGo bat Lee Sedol. L'IA sort du laboratoire — mais reste l'affaire de quelques supercalculateurs.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Nov. 2022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3816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basculement grand public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3200400"/>
            <a:ext cx="54864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33832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atteint 100 M d'utilisateurs en 2 mois. Pour la première fois, une IA sophistiquée tient dans un onglet de navigateur.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changé n'est pas la théorie. Ce sont les trois ingrédients en aval.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  •  École Centrale Casablanca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CONCEPTUEL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qui fait qu'une machine "apprend" 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composantes, aucune suffisante seule.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cerveau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manière dont le système apprend à partir d'exemples, plutôt que d'être programmé pas à pas.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deep learning, réseaux de neurones, transformers.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286000"/>
            <a:ext cx="36576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carburant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33375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sur quoi le système apprend. Quantité, qualité, diversité, représentativité.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~175 Zo de données générées en 2025. 90 % des données mondiales datent des 2 dernières années.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6576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machine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38160" y="33375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puissance de calcul qui rend l'entraînement possible en des temps finis.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GPU, TPU, parallélisation, supercalculateurs, cloud. Coût matériel au cœur de la géopolitique actuelle.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  •  École Centrale Casablanca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 •  LE CERVEAU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Programmer une règle, ou apprendre une règle 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CLASSIQUE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développeur encode explicitement des règles.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machine les exécute.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5486400" cy="173736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718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patient has fever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THEN prescribe Drug 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 patient home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Traçable, déterministe, vérifiable.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S'écroule dès que l'espace des règles explose.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0" cy="420624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AUTOMATIQUE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développeur fournit des exemples.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machine induit la règle.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880360"/>
            <a:ext cx="5486400" cy="173736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9718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Données :  { (x₁, y₁), (x₂, y₂), …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Modèle :   ŷ = f_θ (x)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Objectif : minimiser  L(θ) = Σ ℓ(y, ŷ)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4754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Passe à l'échelle là où les règles sont implicites.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Opacité, dépendance aux données, erreurs silencieuses.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Mammographie : une IA entraînée sur des millions d'images détecte des cancers qu'un radiologue manquerait (Suède, 2023 : +20 % de détection précoce).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  •  École Centrale Casablanca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AU PUBLIC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on ne peut pas expliquer comment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modèle décide, peut-on lui faire confiance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diagnostiquer un cancer 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de la boîte noire — et pourquoi "Explainable AI" est un champ de recherche actif, pas un détail.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  •  École Centrale Casablanca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 •  PARADIGMES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un modèle apprend, concrètement.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80160" y="1828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: étiquettes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1828800"/>
            <a:ext cx="7223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Minimiser l'écart entre la prédiction et la vérité terrain sur des données étiquetées (x, y).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classification d'images, détection de spam, régression de prix.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124712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280160" y="3246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supervisé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: structure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3246120"/>
            <a:ext cx="7223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des régularités dans des données non étiquetées — clusters, composantes, variétés de dimension inférieure.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k-means, PCA, auto-encodeurs.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1124712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280160" y="4663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renforcement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80160" y="5074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: récompense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4663440"/>
            <a:ext cx="7223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agit dans un environnement et optimise une récompense cumulée. Essai, erreur, crédit à retardement.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AlphaGo, robotique, post-entraînement des LLM (RLHF).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  •  École Centrale Casablanca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 •  LE CARBURANT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donnée n'est pas neutre.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V du Big Data conditionnent ce qu'un modèle peut apprendre — et ce qu'il répétera.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6400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 : To, Po, Zo.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 la taille des modèles entraînables.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Vélocité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17920" y="2606040"/>
            <a:ext cx="6400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de production et de traitement.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3154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des pipelines temps-réel ou quasi-réel.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Variété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7200" y="4526280"/>
            <a:ext cx="6400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Texte, image, son, capteurs, log.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074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 une représentation unifiée — embeddings.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Véracité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6400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Qualité, bruit, biais de collecte.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5074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out. Toujours.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  •  École Centrale Casablanca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 •  LA MACHINE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un GPU, et pas un CPU 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L'entraînement d'un réseau de neurones = multiplications matricielles massives, indépendantes. Séquentiel perd, parallèle gagne.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685800"/>
          </a:xfrm>
          <a:prstGeom prst="rect">
            <a:avLst/>
          </a:prstGeom>
          <a:solidFill>
            <a:srgbClr val="6B6B6B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Séquentiel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cœurs puissants, optimisés pour exécuter des instructions variées avec latence faible.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TYPIQUE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5577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d'exploitation, logique métier, I/O.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286000"/>
            <a:ext cx="36576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97680" y="2670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Parallèle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31546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Milliers de cœurs simples, optimisés pour exécuter la même opération sur beaucoup de données en parallèle (SIMD).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9768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TYPIQUE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5577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et inférence de réseaux de neurones.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2286000"/>
            <a:ext cx="3657600" cy="685800"/>
          </a:xfrm>
          <a:prstGeom prst="rect">
            <a:avLst/>
          </a:prstGeom>
          <a:solidFill>
            <a:srgbClr val="C8102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TPU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38160" y="2670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Matriciel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38160" y="31546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dédiée aux produits matriciels à grande échelle (systolic arrays). Plus spécialisé, plus efficace sur les charges ML pures.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3816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TYPIQUE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38160" y="5577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de très grands modèles (Google).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  •  École Centrale Casablanca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classer un système d'IA 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axes complémentaires — qui décrivent des choses différentes, à ne pas confondre.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37160" cy="1143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L'APPRENTISSAGE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le modèle apprend-il 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219456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Machine learning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Deep learning (réseaux de neurones)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137160" cy="1143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LES CAPACITÉS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86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Jusqu'où va sa généralité 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356616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Narrow AI  — une tâche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AGI  — toute tâche humaine (hypothétique)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Super-intelligence  — au-delà (hypothétique)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937760"/>
            <a:ext cx="137160" cy="1143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LA FONCTION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2578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qu'il produit 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97680" y="493776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Systèmes experts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IA prédictive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IA générative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  •  École Centrale Casablanca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GÉNÉRATIVE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Générer, ce n'est pas comprendre.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LLM modélise  P( token suivant  |  contexte ).  Rien de plus.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9428" y="2377440"/>
            <a:ext cx="2148840" cy="1097280"/>
          </a:xfrm>
          <a:prstGeom prst="rect">
            <a:avLst/>
          </a:prstGeom>
          <a:solidFill>
            <a:srgbClr val="F4F4F2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428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0868" y="2834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utilisateur, convertie en tokens.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7412" y="2816352"/>
            <a:ext cx="118872" cy="219456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35428" y="2377440"/>
            <a:ext cx="2148840" cy="1097280"/>
          </a:xfrm>
          <a:prstGeom prst="rect">
            <a:avLst/>
          </a:prstGeom>
          <a:solidFill>
            <a:srgbClr val="F4F4F2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5428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26868" y="2834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+ prompt, limité par la fenêtre de contexte.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93412" y="2816352"/>
            <a:ext cx="118872" cy="219456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1428" y="2377440"/>
            <a:ext cx="2148840" cy="1097280"/>
          </a:xfrm>
          <a:prstGeom prst="rect">
            <a:avLst/>
          </a:prstGeom>
          <a:solidFill>
            <a:srgbClr val="F4F4F2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1428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12868" y="2834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Transformer. Milliards de paramètres.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79412" y="2816352"/>
            <a:ext cx="118872" cy="219456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7428" y="2377440"/>
            <a:ext cx="2148840" cy="1097280"/>
          </a:xfrm>
          <a:prstGeom prst="rect">
            <a:avLst/>
          </a:prstGeom>
          <a:solidFill>
            <a:srgbClr val="F4F4F2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07428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98868" y="2834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sur le vocabulaire entier.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65412" y="2816352"/>
            <a:ext cx="118872" cy="219456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93428" y="2377440"/>
            <a:ext cx="2148840" cy="1097280"/>
          </a:xfrm>
          <a:prstGeom prst="rect">
            <a:avLst/>
          </a:prstGeom>
          <a:solidFill>
            <a:srgbClr val="F4F4F2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93428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Échantillonnage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84868" y="2834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choisi. Boucle jusqu'à la fin.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CELA IMPLIQUE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 modèle ne « sait » pas. Il estime.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Il n'a pas de mécanisme interne pour distinguer vrai et plausible.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Les hallucinations ne sont pas un bug — c'est le régime nominal quand le contexte manque.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  •  École Centrale Casablanca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 •  CE QU'IL FAUT SAVOIR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causes d'hallucination.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hallucination = sortie qui semble plausible mais est fausse. À traiter comme un mode de fonctionnement normal, pas comme un accident.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insuffisantes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7432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n'a pas assez vu ce sujet. Il extrapole à partir de motifs voisins.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04088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bruitées ou biaisées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40880" y="27432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apprend les erreurs du corpus. La qualité ne remonte jamais au-dessus de celle de la source.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8016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insuffisant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6634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ambigu, sous-spécifié. Le modèle comble le vide avec ce qui « sonne juste ».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4206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04088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absentes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0" y="46634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mécanisme pour dire « je ne sais pas ». Le modèle répond toujours — même quand il ne devrait pas.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pratique : toute sortie critique (médicale, légale, financière, opérationnelle) doit être vérifiée par un humain.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  •  École Centrale Casablanca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34 % de la population mondiale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n'a jamais été connectée à Internet.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tiers du monde est hors d'atteinte de l'IA. La fracture numérique détermine qui bénéficie de la prochaine révolution — et qui la subit.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UIT, Global Connectivity Report 2022.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  •  École Centrale Casablanca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qu'il faut retenir.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actuelle n'est pas nouvelle.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nouveau, c'est la convergence de trois facteurs : algorithmes, données, compute. Aucun ne suffit seul.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606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apprend, il n'est pas programmé.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971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directe : on peut vérifier la sortie, rarement le chemin. C'est le problème de la boîte noire.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474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 est le goulet d'étranglement.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840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Quantité, qualité, représentativité. Un biais dans la donnée devient un biais dans le modèle — systématique, à grande échelle.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générative est statistique, pas cognitive.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7091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estime le token suivant. Elle ne raisonne pas, ne sait pas, ne vérifie pas. Les hallucinations sont structurelles.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212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qu'ingénieur, vous serez prescripteur.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5778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choix techniques que vous ferez (quel modèle, sur quelles données, pour quelle décision) ont des conséquences au-delà du code.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l'IA  •  École Centrale Casablanca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MERCI.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1097280" y="3840480"/>
            <a:ext cx="137160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objections, contre-exemples.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Centrale Casablanca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2026-04-22T17:37:45Z</dcterms:created>
  <dcterms:modified xsi:type="dcterms:W3CDTF">2026-04-22T17:37:45Z</dcterms:modified>
</cp:coreProperties>
</file>